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1874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192D50"/>
                </a:solidFill>
              </a:defRPr>
            </a:pPr>
            <a:r>
              <a:t>Mental Health and Well-being</a:t>
            </a:r>
            <a:br/>
            <a:r>
              <a:t>Surveillance, Assessment and Tracking</a:t>
            </a:r>
            <a:br/>
            <a:r>
              <a:t>Solution Among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D64B4"/>
                </a:solidFill>
              </a:defRPr>
            </a:pPr>
            <a:r>
              <a:t>Mini Project —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183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232830"/>
                </a:solidFill>
              </a:defRPr>
            </a:pPr>
            <a:r>
              <a:t>Project / Subject Code: CSE7102</a:t>
            </a:r>
          </a:p>
          <a:p>
            <a:pPr algn="ctr">
              <a:spcAft>
                <a:spcPts val="500"/>
              </a:spcAft>
              <a:defRPr sz="1700">
                <a:solidFill>
                  <a:srgbClr val="232830"/>
                </a:solidFill>
              </a:defRPr>
            </a:pPr>
            <a:r>
              <a:t>Arjun M — 20231CSE0277</a:t>
            </a:r>
          </a:p>
          <a:p>
            <a:pPr algn="ctr">
              <a:spcAft>
                <a:spcPts val="500"/>
              </a:spcAft>
              <a:defRPr sz="1700">
                <a:solidFill>
                  <a:srgbClr val="232830"/>
                </a:solidFill>
              </a:defRPr>
            </a:pPr>
            <a:r>
              <a:t>Harsha R — 20231CSE0261</a:t>
            </a:r>
          </a:p>
          <a:p>
            <a:pPr algn="ctr">
              <a:spcAft>
                <a:spcPts val="500"/>
              </a:spcAft>
              <a:defRPr sz="1700">
                <a:solidFill>
                  <a:srgbClr val="232830"/>
                </a:solidFill>
              </a:defRPr>
            </a:pPr>
            <a:r>
              <a:t>Abhishek M R — 20231CSE0268</a:t>
            </a:r>
          </a:p>
          <a:p>
            <a:pPr algn="ctr">
              <a:spcAft>
                <a:spcPts val="500"/>
              </a:spcAft>
              <a:defRPr sz="1700">
                <a:solidFill>
                  <a:srgbClr val="232830"/>
                </a:solidFill>
              </a:defRPr>
            </a:pPr>
            <a:r>
              <a:t>Guide: Jatti Sai Kumar Sir</a:t>
            </a:r>
          </a:p>
          <a:p>
            <a:pPr algn="ctr">
              <a:spcAft>
                <a:spcPts val="500"/>
              </a:spcAft>
              <a:defRPr sz="1700">
                <a:solidFill>
                  <a:srgbClr val="232830"/>
                </a:solidFill>
              </a:defRPr>
            </a:pPr>
            <a:r>
              <a:t>Presidency University — School of Computer Science and Engineering</a:t>
            </a:r>
          </a:p>
          <a:p>
            <a:pPr algn="ctr">
              <a:spcAft>
                <a:spcPts val="500"/>
              </a:spcAft>
              <a:defRPr sz="1800">
                <a:solidFill>
                  <a:srgbClr val="232830"/>
                </a:solidFill>
              </a:defRPr>
            </a:pP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1018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D64B4"/>
                </a:solidFill>
              </a:defRPr>
            </a:pPr>
            <a:r>
              <a:t>Project ID: PRJ 186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30"/>
                </a:solidFill>
              </a:defRPr>
            </a:pPr>
            <a:r>
              <a:t>Mental and emotional well-being concerns in children can be difficult to identify early.</a:t>
            </a:r>
          </a:p>
          <a:p>
            <a:pPr>
              <a:spcAft>
                <a:spcPts val="1400"/>
              </a:spcAft>
              <a:defRPr sz="2000">
                <a:solidFill>
                  <a:srgbClr val="232830"/>
                </a:solidFill>
              </a:defRPr>
            </a:pPr>
            <a:r>
              <a:t>Children may not consistently communicate changes in mood, sleep, stress, social behavior, or daily routines.</a:t>
            </a:r>
          </a:p>
          <a:p>
            <a:pPr>
              <a:spcAft>
                <a:spcPts val="1400"/>
              </a:spcAft>
              <a:defRPr sz="2000">
                <a:solidFill>
                  <a:srgbClr val="232830"/>
                </a:solidFill>
              </a:defRPr>
            </a:pPr>
            <a:r>
              <a:t>Existing approaches often depend on isolated questionnaires or one-time assessments.</a:t>
            </a:r>
          </a:p>
          <a:p>
            <a:pPr>
              <a:spcAft>
                <a:spcPts val="1400"/>
              </a:spcAft>
              <a:defRPr sz="2000">
                <a:solidFill>
                  <a:srgbClr val="232830"/>
                </a:solidFill>
              </a:defRPr>
            </a:pPr>
            <a:r>
              <a:t>The proposed solution provides continuous, child-friendly well-being tracking with privacy-aware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232830"/>
                </a:solidFill>
              </a:defRPr>
            </a:pPr>
            <a:r>
              <a:t>The system is designed for non-clinical surveillance and early identification of potential risk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8"/>
                </a:solidFill>
              </a:defRPr>
            </a:pPr>
            <a:r>
              <a:t>Academic engineering prototype — not a medical diagnostic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Literature Review &amp; Research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393192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Existing Approach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Observed Limitation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Our Proposed Direction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Self-report questionnaires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Often one-time / periodic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Continuous longitudinal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Mood tracking apps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Limited behavioral intelligence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Mood + lifestyle + journal signals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Text sentiment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Focuses mainly on written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NLP combined with structured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Traditional screening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Limited continuous monitoring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400">
                          <a:solidFill>
                            <a:srgbClr val="232830"/>
                          </a:solidFill>
                        </a:defRPr>
                      </a:pPr>
                      <a:r>
                        <a:t>Risk-tier monitoring with trend visualization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4B4"/>
                </a:solidFill>
              </a:defRPr>
            </a:pPr>
            <a:r>
              <a:t>Research gap: age-appropriate interaction + multi-modal assessment + continuous tracking + support/referral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10332720" cy="777240"/>
          </a:xfrm>
          <a:prstGeom prst="roundRect">
            <a:avLst/>
          </a:prstGeom>
          <a:solidFill>
            <a:srgbClr val="F2F6FB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92D50"/>
                </a:solidFill>
              </a:defRPr>
            </a:pPr>
            <a:r>
              <a:t>1. Presentation Layer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r>
              <a:t>Child check-in • Journal • Caregiver / Educator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777240"/>
          </a:xfrm>
          <a:prstGeom prst="roundRect">
            <a:avLst/>
          </a:prstGeom>
          <a:solidFill>
            <a:srgbClr val="F2F6FB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92D50"/>
                </a:solidFill>
              </a:defRPr>
            </a:pPr>
            <a:r>
              <a:t>2. Application Logic Layer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r>
              <a:t>Authentication • Assessments • Risk rules • API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39"/>
            <a:ext cx="10332720" cy="777240"/>
          </a:xfrm>
          <a:prstGeom prst="roundRect">
            <a:avLst/>
          </a:prstGeom>
          <a:solidFill>
            <a:srgbClr val="F2F6FB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92D50"/>
                </a:solidFill>
              </a:defRPr>
            </a:pPr>
            <a:r>
              <a:t>3. ML / NLP Intelligence Layer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r>
              <a:t>Risk stratification • Sentiment / affect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59"/>
            <a:ext cx="10332720" cy="777240"/>
          </a:xfrm>
          <a:prstGeom prst="roundRect">
            <a:avLst/>
          </a:prstGeom>
          <a:solidFill>
            <a:srgbClr val="F2F6FB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92D50"/>
                </a:solidFill>
              </a:defRPr>
            </a:pPr>
            <a:r>
              <a:t>4. Data Persistence Layer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r>
              <a:t>User profiles • Check-ins • Assessments • Trends • Audit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83479"/>
            <a:ext cx="10332720" cy="777240"/>
          </a:xfrm>
          <a:prstGeom prst="roundRect">
            <a:avLst/>
          </a:prstGeom>
          <a:solidFill>
            <a:srgbClr val="F2F6FB"/>
          </a:solidFill>
          <a:ln>
            <a:solidFill>
              <a:srgbClr val="2D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92D50"/>
                </a:solidFill>
              </a:defRPr>
            </a:pPr>
            <a:r>
              <a:t>5. External Referral Layer</a:t>
            </a:r>
          </a:p>
          <a:p>
            <a:pPr>
              <a:defRPr sz="1250">
                <a:solidFill>
                  <a:srgbClr val="232830"/>
                </a:solidFill>
              </a:defRPr>
            </a:pPr>
            <a:r>
              <a:t>Verified support resources • Crisis / emergency referral pathways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8"/>
                </a:solidFill>
              </a:defRPr>
            </a:pPr>
            <a:r>
              <a:t>Academic engineering prototype — not a medical diagnostic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Expected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Child-friendly daily mood check-in using simple emoji-based interaction.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Structured well-being and lifestyle assessment.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Non-diagnostic ML risk stratification: Low / Healthy, Moderate / Monitoring, Elevated / Action Advised.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Optional journal analysis using NLP for emotional valence and affective tone.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Longitudinal trend visualization for changes over time.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Non-clinical coping support such as breathing and grounding exercises.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Role-based caregiver / educator insights with explainable trends.</a:t>
            </a:r>
          </a:p>
          <a:p>
            <a:pPr>
              <a:spcAft>
                <a:spcPts val="1400"/>
              </a:spcAft>
              <a:defRPr sz="1800">
                <a:solidFill>
                  <a:srgbClr val="232830"/>
                </a:solidFill>
              </a:defRPr>
            </a:pPr>
            <a:r>
              <a:t>Verified crisis and emergency support referral pathways when appropriate.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8"/>
                </a:solidFill>
              </a:defRPr>
            </a:pPr>
            <a:r>
              <a:t>Academic engineering prototype — not a medical diagnostic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Project Gantt Chart</a:t>
            </a:r>
          </a:p>
        </p:txBody>
      </p:sp>
      <p:pic>
        <p:nvPicPr>
          <p:cNvPr id="4" name="Picture 3" descr="mental_health_project_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11521440" cy="6188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C78"/>
                </a:solidFill>
              </a:defRPr>
            </a:pPr>
            <a:r>
              <a:t>Review milestones: R1 — Aug 29 | R2 — Sep 26 | R3 — Oct 10 | R4 — Nov 14 | R5 — Nov 16–20,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8"/>
                </a:solidFill>
              </a:defRPr>
            </a:pPr>
            <a:r>
              <a:t>Academic engineering prototype — not a medical diagnostic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Review 1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830"/>
                </a:solidFill>
              </a:defRPr>
            </a:pPr>
            <a:r>
              <a:t>Problem scope and research gap have been defined.</a:t>
            </a:r>
          </a:p>
          <a:p>
            <a:pPr>
              <a:spcAft>
                <a:spcPts val="1400"/>
              </a:spcAft>
              <a:defRPr sz="2100">
                <a:solidFill>
                  <a:srgbClr val="232830"/>
                </a:solidFill>
              </a:defRPr>
            </a:pPr>
            <a:r>
              <a:t>A 5-tier system architecture and Level 0/Level 1 data flow are planned.</a:t>
            </a:r>
          </a:p>
          <a:p>
            <a:pPr>
              <a:spcAft>
                <a:spcPts val="1400"/>
              </a:spcAft>
              <a:defRPr sz="2100">
                <a:solidFill>
                  <a:srgbClr val="232830"/>
                </a:solidFill>
              </a:defRPr>
            </a:pPr>
            <a:r>
              <a:t>Expected outputs are clearly specified and remain non-diagnostic.</a:t>
            </a:r>
          </a:p>
          <a:p>
            <a:pPr>
              <a:spcAft>
                <a:spcPts val="1400"/>
              </a:spcAft>
              <a:defRPr sz="2100">
                <a:solidFill>
                  <a:srgbClr val="232830"/>
                </a:solidFill>
              </a:defRPr>
            </a:pPr>
            <a:r>
              <a:t>The project timeline is aligned with the university review milestones.</a:t>
            </a:r>
          </a:p>
          <a:p>
            <a:pPr>
              <a:spcAft>
                <a:spcPts val="1400"/>
              </a:spcAft>
              <a:defRPr sz="2100">
                <a:solidFill>
                  <a:srgbClr val="232830"/>
                </a:solidFill>
              </a:defRPr>
            </a:pPr>
            <a:r>
              <a:t>Next phase: move from design and specification toward implementation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8"/>
                </a:solidFill>
              </a:defRPr>
            </a:pPr>
            <a:r>
              <a:t>Academic engineering prototype — not a medical diagnostic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